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10"/>
  </p:normalViewPr>
  <p:slideViewPr>
    <p:cSldViewPr snapToGrid="0" snapToObjects="1">
      <p:cViewPr varScale="1">
        <p:scale>
          <a:sx n="187" d="100"/>
          <a:sy n="187" d="100"/>
        </p:scale>
        <p:origin x="192" y="-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4749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40453-1C93-E83B-7983-3F71AAE8F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F46A51-343C-3621-4E3C-EFABC23B78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01783A-98AC-9921-B01F-DDF5C943C7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31E53-5F23-9667-C719-34020DB501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567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0" y="-274320"/>
            <a:ext cx="1645920" cy="164592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IoT-Based Smart Patient Turning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Bed Monitoring System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Bedridden Patients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828800" y="2651760"/>
            <a:ext cx="54864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IOT Laboratory (CSE-460) | 4th Year 2</a:t>
            </a:r>
            <a:r>
              <a:rPr lang="en-US" sz="1200" baseline="30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Semester | Jahangirnagar University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Khaled Mahmud Jon</a:t>
            </a: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</a:t>
            </a: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 Sultan</a:t>
            </a: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</a:t>
            </a: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Abdullah </a:t>
            </a:r>
            <a:r>
              <a:rPr lang="en-US" sz="14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Nazmus-Sakib</a:t>
            </a:r>
            <a:r>
              <a:rPr lang="en-US" sz="14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Dr. Md. Ezharul Islam &amp; Samsun Nahar Khandakar | Date</a:t>
            </a: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26/07/2026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4389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67712" y="438912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67712" y="4389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Cloud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986784" y="438912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986784" y="4389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Sensors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705856" y="438912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05856" y="4389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424928" y="438912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24928" y="4389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051560"/>
          </a:xfrm>
          <a:prstGeom prst="rect">
            <a:avLst/>
          </a:prstGeom>
          <a:solidFill>
            <a:srgbClr val="EBF5FB"/>
          </a:solidFill>
          <a:ln w="19050">
            <a:solidFill>
              <a:srgbClr val="02809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Bedridden patients are highly vulnerable to pressure ulcers (bed sores) due to prolonged immobility. Continuous manual monitoring is often inefficient and prone to delay. This project proposes an IoT-Based Smart Patient Turning and Bed Monitoring System that continuously monitors patient body pressure, temperature, and humidity conditions, detecting prolonged immobility and generating alerts to prevent pressure ulcers.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548640" cy="1143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404872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2148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249631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&amp; prone to delays in patient repositioning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205740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663440" y="2057400"/>
            <a:ext cx="548640" cy="1143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2404872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2148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Ulcers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303520" y="249631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detection leads to serious health complications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65760" y="338328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65760" y="3383280"/>
            <a:ext cx="548640" cy="1143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730752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05840" y="34747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Alerts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005840" y="382219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automated remote monitoring systems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663440" y="338328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663440" y="3383280"/>
            <a:ext cx="548640" cy="1143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2" y="3730752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03520" y="34747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Overload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303520" y="382219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dependency on manual caregiver observation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658368"/>
          </a:xfrm>
          <a:prstGeom prst="rect">
            <a:avLst/>
          </a:prstGeom>
          <a:solidFill>
            <a:srgbClr val="EBF5FB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24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1024128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1060704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1024128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pressure monitoring system for bedridden patients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65760" y="1709928"/>
            <a:ext cx="84124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02920" y="1819656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02920" y="18196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97280" y="1819656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1856232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91640" y="1819656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patient immobility duration and detect prolonged stillness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365760" y="2505456"/>
            <a:ext cx="8412480" cy="658368"/>
          </a:xfrm>
          <a:prstGeom prst="rect">
            <a:avLst/>
          </a:prstGeom>
          <a:solidFill>
            <a:srgbClr val="EBF5FB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02920" y="2615184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502920" y="2615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1097280" y="2615184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856" y="265176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91640" y="2615184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IoT-based automated alert system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365760" y="3300984"/>
            <a:ext cx="84124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502920" y="3410712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502920" y="3410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1097280" y="3410712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3856" y="3447288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91640" y="3410712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real-time notifications to caregivers via mobile app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365760" y="4096512"/>
            <a:ext cx="8412480" cy="658368"/>
          </a:xfrm>
          <a:prstGeom prst="rect">
            <a:avLst/>
          </a:prstGeom>
          <a:solidFill>
            <a:srgbClr val="EBF5FB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502920" y="4206240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502920" y="4206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1097280" y="4206240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3856" y="4242816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691640" y="420624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cloud-based data storage and remote monitoring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F2955D-294F-8779-FF22-C9D3B2C1C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6EB3015-9763-7EA7-4CCB-EFF7CFA5F943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B1A3C57-F347-290B-63DE-FBA44A543725}"/>
              </a:ext>
            </a:extLst>
          </p:cNvPr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Literature Review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16B4574-B8A9-CA2E-5812-B3889EC8E09B}"/>
              </a:ext>
            </a:extLst>
          </p:cNvPr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A162E04-0ED6-E6CE-ED5C-658FD19705C4}"/>
              </a:ext>
            </a:extLst>
          </p:cNvPr>
          <p:cNvSpPr/>
          <p:nvPr/>
        </p:nvSpPr>
        <p:spPr>
          <a:xfrm>
            <a:off x="365760" y="914400"/>
            <a:ext cx="8412480" cy="658368"/>
          </a:xfrm>
          <a:prstGeom prst="rect">
            <a:avLst/>
          </a:prstGeom>
          <a:solidFill>
            <a:srgbClr val="EBF5FB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D70AABA-2CFD-D054-AECE-BF4CAEF29387}"/>
              </a:ext>
            </a:extLst>
          </p:cNvPr>
          <p:cNvSpPr/>
          <p:nvPr/>
        </p:nvSpPr>
        <p:spPr>
          <a:xfrm>
            <a:off x="502920" y="1024128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F8E20D6-D650-F808-F137-9DADED08C656}"/>
              </a:ext>
            </a:extLst>
          </p:cNvPr>
          <p:cNvSpPr/>
          <p:nvPr/>
        </p:nvSpPr>
        <p:spPr>
          <a:xfrm>
            <a:off x="502920" y="1024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D249D11-D284-3350-BDD3-6CBE7C69A2DF}"/>
              </a:ext>
            </a:extLst>
          </p:cNvPr>
          <p:cNvSpPr/>
          <p:nvPr/>
        </p:nvSpPr>
        <p:spPr>
          <a:xfrm>
            <a:off x="998220" y="877824"/>
            <a:ext cx="77800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IoT-based healthcare systems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real-time patient monitoring using sensors, microcontrollers, and cloud platforms.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7BE3E933-A259-71B1-A459-A1B7543D79E8}"/>
              </a:ext>
            </a:extLst>
          </p:cNvPr>
          <p:cNvSpPr/>
          <p:nvPr/>
        </p:nvSpPr>
        <p:spPr>
          <a:xfrm>
            <a:off x="365760" y="1709928"/>
            <a:ext cx="84124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5AC5FE56-F870-76F1-05C5-93A0B5736653}"/>
              </a:ext>
            </a:extLst>
          </p:cNvPr>
          <p:cNvSpPr/>
          <p:nvPr/>
        </p:nvSpPr>
        <p:spPr>
          <a:xfrm>
            <a:off x="502920" y="1819656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2679936-2A29-E850-3401-57B7B9F11B1A}"/>
              </a:ext>
            </a:extLst>
          </p:cNvPr>
          <p:cNvSpPr/>
          <p:nvPr/>
        </p:nvSpPr>
        <p:spPr>
          <a:xfrm>
            <a:off x="502920" y="18196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87AFF6FA-3CAA-60E7-BCC6-10BB306AEAC7}"/>
              </a:ext>
            </a:extLst>
          </p:cNvPr>
          <p:cNvSpPr/>
          <p:nvPr/>
        </p:nvSpPr>
        <p:spPr>
          <a:xfrm>
            <a:off x="998220" y="1778508"/>
            <a:ext cx="778002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smart healthcare solutions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mainly monitor body temperature, heart rate, SpO₂, and patient posture using pressure sensors</a:t>
            </a:r>
            <a:r>
              <a:rPr lang="en-US" dirty="0"/>
              <a:t>.</a:t>
            </a: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808D5684-750E-BECE-F67E-67053A3EE031}"/>
              </a:ext>
            </a:extLst>
          </p:cNvPr>
          <p:cNvSpPr/>
          <p:nvPr/>
        </p:nvSpPr>
        <p:spPr>
          <a:xfrm>
            <a:off x="365760" y="2446021"/>
            <a:ext cx="8412480" cy="658368"/>
          </a:xfrm>
          <a:prstGeom prst="rect">
            <a:avLst/>
          </a:prstGeom>
          <a:solidFill>
            <a:srgbClr val="EBF5FB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CD525322-07D9-C219-B26F-C0B5D5E262E3}"/>
              </a:ext>
            </a:extLst>
          </p:cNvPr>
          <p:cNvSpPr/>
          <p:nvPr/>
        </p:nvSpPr>
        <p:spPr>
          <a:xfrm>
            <a:off x="502920" y="2615184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67DFAABA-188D-62F1-FF78-9918DA892A85}"/>
              </a:ext>
            </a:extLst>
          </p:cNvPr>
          <p:cNvSpPr/>
          <p:nvPr/>
        </p:nvSpPr>
        <p:spPr>
          <a:xfrm>
            <a:off x="502920" y="2615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CEA7D8DE-756C-F612-9911-7E300ECC61C8}"/>
              </a:ext>
            </a:extLst>
          </p:cNvPr>
          <p:cNvSpPr/>
          <p:nvPr/>
        </p:nvSpPr>
        <p:spPr>
          <a:xfrm>
            <a:off x="998220" y="2505456"/>
            <a:ext cx="77800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/>
              <a:t>Current systems have limitations</a:t>
            </a:r>
            <a:r>
              <a:rPr lang="en-US" dirty="0"/>
              <a:t>, including limited pressure monitoring, lack of time-based position alerts, and no environmental sensing integration.</a:t>
            </a:r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927ECCB5-574A-1572-74D3-9F336FDBC2FA}"/>
              </a:ext>
            </a:extLst>
          </p:cNvPr>
          <p:cNvSpPr/>
          <p:nvPr/>
        </p:nvSpPr>
        <p:spPr>
          <a:xfrm>
            <a:off x="365760" y="3300984"/>
            <a:ext cx="84124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72D3B421-CD46-3F33-97DD-3F349EACCBAA}"/>
              </a:ext>
            </a:extLst>
          </p:cNvPr>
          <p:cNvSpPr/>
          <p:nvPr/>
        </p:nvSpPr>
        <p:spPr>
          <a:xfrm>
            <a:off x="502920" y="3410712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01C5E64D-7E7D-3CB7-0FBF-A1440A1F130C}"/>
              </a:ext>
            </a:extLst>
          </p:cNvPr>
          <p:cNvSpPr/>
          <p:nvPr/>
        </p:nvSpPr>
        <p:spPr>
          <a:xfrm>
            <a:off x="502920" y="3410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23C07EC5-2A38-8686-1D3E-ACF3254F5008}"/>
              </a:ext>
            </a:extLst>
          </p:cNvPr>
          <p:cNvSpPr/>
          <p:nvPr/>
        </p:nvSpPr>
        <p:spPr>
          <a:xfrm>
            <a:off x="998220" y="3332987"/>
            <a:ext cx="7780020" cy="59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solutions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also provide limited remote monitoring features and can be costly for widespread healthcare use</a:t>
            </a:r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0950B56D-CC23-318A-DFF3-88D04FD26261}"/>
              </a:ext>
            </a:extLst>
          </p:cNvPr>
          <p:cNvSpPr/>
          <p:nvPr/>
        </p:nvSpPr>
        <p:spPr>
          <a:xfrm>
            <a:off x="274320" y="4138098"/>
            <a:ext cx="8412480" cy="658368"/>
          </a:xfrm>
          <a:prstGeom prst="rect">
            <a:avLst/>
          </a:prstGeom>
          <a:solidFill>
            <a:srgbClr val="EBF5FB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E8E9B482-0D54-7DFF-9E4D-31A2B4D55380}"/>
              </a:ext>
            </a:extLst>
          </p:cNvPr>
          <p:cNvSpPr/>
          <p:nvPr/>
        </p:nvSpPr>
        <p:spPr>
          <a:xfrm>
            <a:off x="502920" y="4206240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5D6C5710-6604-79E8-C54F-7737C2BC5782}"/>
              </a:ext>
            </a:extLst>
          </p:cNvPr>
          <p:cNvSpPr/>
          <p:nvPr/>
        </p:nvSpPr>
        <p:spPr>
          <a:xfrm>
            <a:off x="502920" y="4206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3C96EDA0-3909-7D2F-A299-D160267FF56E}"/>
              </a:ext>
            </a:extLst>
          </p:cNvPr>
          <p:cNvSpPr/>
          <p:nvPr/>
        </p:nvSpPr>
        <p:spPr>
          <a:xfrm>
            <a:off x="998220" y="4123944"/>
            <a:ext cx="7642860" cy="67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proposed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integrates ESP32, FSR pressure sensors, DHT22, cloud storage, and mobile alerts into a single low-cost platform for continuous patient monitoring.</a:t>
            </a:r>
          </a:p>
        </p:txBody>
      </p:sp>
    </p:spTree>
    <p:extLst>
      <p:ext uri="{BB962C8B-B14F-4D97-AF65-F5344CB8AC3E}">
        <p14:creationId xmlns:p14="http://schemas.microsoft.com/office/powerpoint/2010/main" val="1437590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1920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192024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033272"/>
            <a:ext cx="777240" cy="777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1874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Unit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237744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FSR Pressure Sensors + DHT22 Temp &amp; Humidity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240280" y="1307592"/>
            <a:ext cx="2286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468880" y="896112"/>
            <a:ext cx="1920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468880" y="896112"/>
            <a:ext cx="192024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1033272"/>
            <a:ext cx="777240" cy="777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68880" y="1874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MCU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560320" y="237744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Unit - collects &amp; processes sensor data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389120" y="1307592"/>
            <a:ext cx="2286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617720" y="896112"/>
            <a:ext cx="1920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617720" y="896112"/>
            <a:ext cx="192024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60" y="1033272"/>
            <a:ext cx="777240" cy="7772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17720" y="1874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Cloud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709160" y="237744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/ Blynk for data storage &amp; remote access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537960" y="1307592"/>
            <a:ext cx="2286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766560" y="896112"/>
            <a:ext cx="1920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766560" y="896112"/>
            <a:ext cx="192024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1033272"/>
            <a:ext cx="777240" cy="7772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66560" y="1874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System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858000" y="237744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(local) + Mobile Notifications (remote)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Data Flow: Sensors → Processing → Cloud → Alerts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triggers when patient remains immobile for 2–3 hours  |  Buzzer activates locally  |  Mobile push notification to caregiver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100584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50976"/>
            <a:ext cx="438912" cy="438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71600" y="841248"/>
            <a:ext cx="914400" cy="658368"/>
          </a:xfrm>
          <a:prstGeom prst="rect">
            <a:avLst/>
          </a:prstGeom>
          <a:solidFill>
            <a:srgbClr val="EBF5FB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371600" y="84124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286000" y="841248"/>
            <a:ext cx="6492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423160" y="91440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Collection: 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423160" y="117043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FSR/Load Cell sensors detect body pressure distribution. DHT22 measures temperature &amp; humidity in real-time.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1664208"/>
            <a:ext cx="100584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773936"/>
            <a:ext cx="438912" cy="43891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371600" y="1664208"/>
            <a:ext cx="914400" cy="658368"/>
          </a:xfrm>
          <a:prstGeom prst="rect">
            <a:avLst/>
          </a:prstGeom>
          <a:solidFill>
            <a:srgbClr val="EBF5FB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1371600" y="166420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286000" y="1664208"/>
            <a:ext cx="6492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2423160" y="173736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Processing: 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423160" y="19933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microcontroller collects and processes sensor data. System tracks duration of patient immobility.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65760" y="2487168"/>
            <a:ext cx="100584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596896"/>
            <a:ext cx="438912" cy="43891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371600" y="2487168"/>
            <a:ext cx="914400" cy="658368"/>
          </a:xfrm>
          <a:prstGeom prst="rect">
            <a:avLst/>
          </a:prstGeom>
          <a:solidFill>
            <a:srgbClr val="EBF5F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1371600" y="248716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2286000" y="2487168"/>
            <a:ext cx="6492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2423160" y="256032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Making: 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2423160" y="281635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patient remains in same position for 2–3 hours, an alert is triggered automatically.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365760" y="3310128"/>
            <a:ext cx="1005840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419856"/>
            <a:ext cx="438912" cy="438912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1371600" y="3310128"/>
            <a:ext cx="914400" cy="658368"/>
          </a:xfrm>
          <a:prstGeom prst="rect">
            <a:avLst/>
          </a:prstGeom>
          <a:solidFill>
            <a:srgbClr val="EBF5FB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1371600" y="331012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2286000" y="3310128"/>
            <a:ext cx="6492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2423160" y="338328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Generation: 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2423160" y="363931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activates locally. Mobile application sends push notification to caregivers.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365760" y="4133088"/>
            <a:ext cx="100584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242816"/>
            <a:ext cx="438912" cy="438912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1371600" y="4133088"/>
            <a:ext cx="914400" cy="658368"/>
          </a:xfrm>
          <a:prstGeom prst="rect">
            <a:avLst/>
          </a:prstGeom>
          <a:solidFill>
            <a:srgbClr val="EBF5FB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1371600" y="413308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2286000" y="4133088"/>
            <a:ext cx="6492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1"/>
          <p:cNvSpPr/>
          <p:nvPr/>
        </p:nvSpPr>
        <p:spPr>
          <a:xfrm>
            <a:off x="2423160" y="420624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Integration: 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2423160" y="44622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uploaded to Firebase or Blynk cloud for remote monitoring and historical tracking.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– Block Diagram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82880" y="71323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SENSORS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82880" y="4251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&amp; Humidity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017520" y="4251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5V/12V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82880" y="4846320"/>
            <a:ext cx="8778240" cy="210312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45FB31C7-BA6F-A3C1-5D83-347D417F4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862538"/>
            <a:ext cx="9143999" cy="4194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Diagram 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3B2CC969-235A-3988-4C27-DE18BB3D3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740664"/>
            <a:ext cx="9143999" cy="44028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Hardware Components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4023360" cy="329184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" y="1444752"/>
            <a:ext cx="201168" cy="2011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3716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Development Board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755648"/>
            <a:ext cx="4023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472" y="1828800"/>
            <a:ext cx="201168" cy="2011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17556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FSR / Load Cell Sensors (x4)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139696"/>
            <a:ext cx="4023360" cy="329184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7472" y="2212848"/>
            <a:ext cx="201168" cy="2011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1792" y="213969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HX711 Load Cell Amplifier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523744"/>
            <a:ext cx="4023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47472" y="2596896"/>
            <a:ext cx="201168" cy="2011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" y="25237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Temperature &amp; Humidity Sensor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07792"/>
            <a:ext cx="4023360" cy="329184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47472" y="2980944"/>
            <a:ext cx="201168" cy="2011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" y="29077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Module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291840"/>
            <a:ext cx="4023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47472" y="3364992"/>
            <a:ext cx="201168" cy="2011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1792" y="32918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for displaying Summary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675888"/>
            <a:ext cx="4023360" cy="329184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7472" y="3749040"/>
            <a:ext cx="201168" cy="2011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1792" y="367588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 (Optional Bed Tilt)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059936"/>
            <a:ext cx="4023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47472" y="4133088"/>
            <a:ext cx="201168" cy="2011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1792" y="405993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/ 12V DC Power Supply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443984"/>
            <a:ext cx="4023360" cy="329184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47472" y="4517136"/>
            <a:ext cx="201168" cy="2011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1792" y="444398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Breadboard, Wires, Resistors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868680"/>
            <a:ext cx="40233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46320" y="868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Software Tools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846320" y="137160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46320" y="1371600"/>
            <a:ext cx="73152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29200" y="1417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29200" y="16642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development for ESP32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46320" y="2064224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846320" y="2057400"/>
            <a:ext cx="73152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29200" y="2103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029200" y="23500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 &amp; real-time sync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46320" y="274320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846320" y="2743200"/>
            <a:ext cx="73152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29200" y="2788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Blynk IoT Platform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029200" y="30358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dashboard &amp; alerts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846320" y="342900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846320" y="3429000"/>
            <a:ext cx="73152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029200" y="3474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Wokwi Simulator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029200" y="37216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ESP32 circuit simulation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846320" y="411480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846320" y="4114800"/>
            <a:ext cx="73152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029200" y="41605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Proteus (Optional)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029200" y="44074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simulation &amp; testing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 (Bill of Materials)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523680"/>
              </p:ext>
            </p:extLst>
          </p:nvPr>
        </p:nvGraphicFramePr>
        <p:xfrm>
          <a:off x="274320" y="822960"/>
          <a:ext cx="8595360" cy="3418839"/>
        </p:xfrm>
        <a:graphic>
          <a:graphicData uri="http://schemas.openxmlformats.org/drawingml/2006/table">
            <a:tbl>
              <a:tblPr/>
              <a:tblGrid>
                <a:gridCol w="493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7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2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47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59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98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(BDT)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(USD)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8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Development 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 BDT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USD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8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FSR Pressure Sensor / Load Cell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820 BDT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USD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8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HX711 Load Cell Amplifier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BDT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USD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8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DHT22 Temperature &amp; Humidity Sensor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BDT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USD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8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Buzzer 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 BDT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 USD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8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Servo Motor (Optional Bed Tilt)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 BDT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USD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8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Supply (5V/12V Adapter)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BDT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USD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8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Wires, Breadboard, Miscellaneous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BDT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&lt;3 USD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44348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Cost: ~2,900 BDT (~25 USD)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491740" y="4457700"/>
            <a:ext cx="41605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191428" y="44577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Cost:  2850 BDT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Limitations</a:t>
            </a:r>
            <a:endParaRPr lang="en-US" sz="3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9784"/>
            <a:ext cx="411480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4114800" cy="457200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37160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12801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of pressure ulcer risk for bedridden patients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74320" y="182880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9202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18288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00" dirty="0"/>
          </a:p>
          <a:p>
            <a:r>
              <a:rPr lang="en-US" sz="1400" dirty="0"/>
              <a:t> Automatic Bed Repositioning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274320" y="2377440"/>
            <a:ext cx="4114800" cy="457200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46888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5800" y="23774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remote monitoring of patient condition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274320" y="292608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301752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5800" y="29260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workload for caregivers and nursing staff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274320" y="3474720"/>
            <a:ext cx="4114800" cy="457200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356616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85800" y="34747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patient safety and overall comfort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4754880" y="822960"/>
            <a:ext cx="411480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6"/>
          <p:cNvSpPr/>
          <p:nvPr/>
        </p:nvSpPr>
        <p:spPr>
          <a:xfrm>
            <a:off x="4754880" y="8229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754880" y="1280160"/>
            <a:ext cx="4114800" cy="457200"/>
          </a:xfrm>
          <a:prstGeom prst="rect">
            <a:avLst/>
          </a:prstGeom>
          <a:solidFill>
            <a:srgbClr val="FEF9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371600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166360" y="12801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stable internet connection for cloud features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4754880" y="182880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920240"/>
            <a:ext cx="274320" cy="2743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166360" y="18288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calibration may be required periodically</a:t>
            </a:r>
            <a:endParaRPr lang="en-US" sz="1400" dirty="0"/>
          </a:p>
        </p:txBody>
      </p:sp>
      <p:sp>
        <p:nvSpPr>
          <p:cNvPr id="30" name="Shape 21"/>
          <p:cNvSpPr/>
          <p:nvPr/>
        </p:nvSpPr>
        <p:spPr>
          <a:xfrm>
            <a:off x="4754880" y="2377440"/>
            <a:ext cx="4114800" cy="457200"/>
          </a:xfrm>
          <a:prstGeom prst="rect">
            <a:avLst/>
          </a:prstGeom>
          <a:solidFill>
            <a:srgbClr val="FEF9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468880"/>
            <a:ext cx="274320" cy="27432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166360" y="23774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accuracy limitations in measurements</a:t>
            </a:r>
            <a:endParaRPr lang="en-US" sz="1400" dirty="0"/>
          </a:p>
        </p:txBody>
      </p:sp>
      <p:sp>
        <p:nvSpPr>
          <p:cNvPr id="33" name="Shape 23"/>
          <p:cNvSpPr/>
          <p:nvPr/>
        </p:nvSpPr>
        <p:spPr>
          <a:xfrm>
            <a:off x="4754880" y="292608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017520"/>
            <a:ext cx="274320" cy="27432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5166360" y="29260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power dependency for operation</a:t>
            </a:r>
            <a:endParaRPr lang="en-US" sz="1400" dirty="0"/>
          </a:p>
        </p:txBody>
      </p:sp>
      <p:sp>
        <p:nvSpPr>
          <p:cNvPr id="36" name="Shape 25"/>
          <p:cNvSpPr/>
          <p:nvPr/>
        </p:nvSpPr>
        <p:spPr>
          <a:xfrm>
            <a:off x="274320" y="4069080"/>
            <a:ext cx="859536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6"/>
          <p:cNvSpPr/>
          <p:nvPr/>
        </p:nvSpPr>
        <p:spPr>
          <a:xfrm>
            <a:off x="274320" y="406908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Scope</a:t>
            </a:r>
            <a:endParaRPr lang="en-US" sz="2000" dirty="0"/>
          </a:p>
        </p:txBody>
      </p:sp>
      <p:sp>
        <p:nvSpPr>
          <p:cNvPr id="38" name="Shape 27"/>
          <p:cNvSpPr/>
          <p:nvPr/>
        </p:nvSpPr>
        <p:spPr>
          <a:xfrm>
            <a:off x="274320" y="4480560"/>
            <a:ext cx="1600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28"/>
          <p:cNvSpPr/>
          <p:nvPr/>
        </p:nvSpPr>
        <p:spPr>
          <a:xfrm>
            <a:off x="274320" y="4480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Movement Prediction</a:t>
            </a:r>
            <a:endParaRPr lang="en-US" sz="1400" dirty="0"/>
          </a:p>
        </p:txBody>
      </p:sp>
      <p:sp>
        <p:nvSpPr>
          <p:cNvPr id="40" name="Shape 29"/>
          <p:cNvSpPr/>
          <p:nvPr/>
        </p:nvSpPr>
        <p:spPr>
          <a:xfrm>
            <a:off x="2011680" y="4480560"/>
            <a:ext cx="1600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0"/>
          <p:cNvSpPr/>
          <p:nvPr/>
        </p:nvSpPr>
        <p:spPr>
          <a:xfrm>
            <a:off x="2011680" y="4480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Analytics Dashboard</a:t>
            </a:r>
          </a:p>
        </p:txBody>
      </p:sp>
      <p:sp>
        <p:nvSpPr>
          <p:cNvPr id="42" name="Shape 31"/>
          <p:cNvSpPr/>
          <p:nvPr/>
        </p:nvSpPr>
        <p:spPr>
          <a:xfrm>
            <a:off x="3749040" y="4480560"/>
            <a:ext cx="1600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2"/>
          <p:cNvSpPr/>
          <p:nvPr/>
        </p:nvSpPr>
        <p:spPr>
          <a:xfrm>
            <a:off x="3749040" y="4480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System Integration</a:t>
            </a:r>
            <a:endParaRPr lang="en-US" sz="1400" dirty="0"/>
          </a:p>
        </p:txBody>
      </p:sp>
      <p:sp>
        <p:nvSpPr>
          <p:cNvPr id="44" name="Shape 33"/>
          <p:cNvSpPr/>
          <p:nvPr/>
        </p:nvSpPr>
        <p:spPr>
          <a:xfrm>
            <a:off x="5486400" y="4480560"/>
            <a:ext cx="1600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4"/>
          <p:cNvSpPr/>
          <p:nvPr/>
        </p:nvSpPr>
        <p:spPr>
          <a:xfrm>
            <a:off x="5486400" y="4480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Alert System</a:t>
            </a:r>
            <a:endParaRPr lang="en-US" sz="1400" dirty="0"/>
          </a:p>
        </p:txBody>
      </p:sp>
      <p:sp>
        <p:nvSpPr>
          <p:cNvPr id="46" name="Shape 35"/>
          <p:cNvSpPr/>
          <p:nvPr/>
        </p:nvSpPr>
        <p:spPr>
          <a:xfrm>
            <a:off x="7223760" y="4480560"/>
            <a:ext cx="1600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6"/>
          <p:cNvSpPr/>
          <p:nvPr/>
        </p:nvSpPr>
        <p:spPr>
          <a:xfrm>
            <a:off x="7223760" y="4480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Health Prediction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286000" y="1097280"/>
            <a:ext cx="4572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IoT-Based Smart Patient Turning and Bed Monitoring System provides an effective and low-cost solution for continuous monitoring of bedridden patients. By integrating pressure sensors and DHT22, the system tracks posture, body pressure, temperature, and humidity in real time.</a:t>
            </a:r>
            <a:endParaRPr lang="en-US" sz="1300" dirty="0"/>
          </a:p>
          <a:p>
            <a:pPr marL="0" indent="0" algn="just">
              <a:buNone/>
            </a:pPr>
            <a:endParaRPr lang="en-US" sz="1300" dirty="0"/>
          </a:p>
          <a:p>
            <a:pPr marL="0" indent="0" algn="just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ESP32 microcontroller with IoT cloud integration, caregivers receive instant alerts via mobile when abnormal conditions are detected — significantly reducing the risk of pressure ulcers and dependency on manual observation.</a:t>
            </a:r>
            <a:endParaRPr lang="en-US" sz="1300" dirty="0"/>
          </a:p>
          <a:p>
            <a:pPr marL="0" indent="0" algn="just">
              <a:buNone/>
            </a:pPr>
            <a:endParaRPr lang="en-US" sz="1300" dirty="0"/>
          </a:p>
          <a:p>
            <a:pPr marL="0" indent="0" algn="just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how IoT technology can transform healthcare — improving patient care, increasing efficiency, and reducing caregiver workload. It is a scalable, affordable solution ready for future AI-based enhancements.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023360"/>
            <a:ext cx="18288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40416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2850 BDT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44531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4023360"/>
            <a:ext cx="18288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51760" y="40416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51760" y="44531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Sensors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4023360"/>
            <a:ext cx="18288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40416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hrs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54880" y="44531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Threshold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4023360"/>
            <a:ext cx="18288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0" y="40416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58000" y="44531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CSE-460 | IoT Laboratory | Jahangirnagar University | 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</TotalTime>
  <Words>951</Words>
  <Application>Microsoft Macintosh PowerPoint</Application>
  <PresentationFormat>On-screen Show (16:9)</PresentationFormat>
  <Paragraphs>193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IoT-Based Smart Patient Turning and Bed Monitoring System</dc:title>
  <dc:subject>PptxGenJS Presentation</dc:subject>
  <dc:creator>PptxGenJS</dc:creator>
  <cp:lastModifiedBy>shakibrybmn@gmail.com</cp:lastModifiedBy>
  <cp:revision>10</cp:revision>
  <dcterms:created xsi:type="dcterms:W3CDTF">2026-04-30T05:39:50Z</dcterms:created>
  <dcterms:modified xsi:type="dcterms:W3CDTF">2026-07-26T15:19:18Z</dcterms:modified>
</cp:coreProperties>
</file>